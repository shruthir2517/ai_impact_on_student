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70" r:id="rId12"/>
    <p:sldId id="266" r:id="rId13"/>
    <p:sldId id="269" r:id="rId14"/>
    <p:sldId id="268"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DC6260-286E-4EC7-B4A3-DDC14B8DD4EE}" v="228" dt="2026-09-14T13:35:08.7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884003-5E41-46F0-851B-3B63C9BB05BA}" type="datetimeFigureOut">
              <a:t>9/16/2026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B679F-1EA4-496D-A0F2-6FA0F1C39F51}" type="slidenum">
              <a:t>‹#›</a:t>
            </a:fld>
            <a:endParaRPr lang="en-GB"/>
          </a:p>
        </p:txBody>
      </p:sp>
    </p:spTree>
    <p:extLst>
      <p:ext uri="{BB962C8B-B14F-4D97-AF65-F5344CB8AC3E}">
        <p14:creationId xmlns:p14="http://schemas.microsoft.com/office/powerpoint/2010/main" val="1921096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Today I will be walking you through my capstone data analysis project, exploring how Generative AI tools like ChatGPT are fundamentally changing the modern university experience.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goal was to cut through the hype. We didn't just want to know if students use AI, we wanted to prove mathematically whether it was helping them or hurting them in the long run.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ensure data integrity, I processed 50,000 raw records using Python and Pandas, engineered a custom 'GPA Growth' metric, and built a relational SQL database before creating our Power BI dashboard.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you only take one thing away from this presentation, it is this: AI is a double-edged sword. While it saves time, heavy reliance correlates with a severe spike in exam anxiety and a drop in skill retention.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 all AI usage is equal. As you can see here, students who use AI as a tutor—for debugging and troubleshooting—saw the highest GPA growth (+0.25). Students who use it to directly generate answers saw the lowest growth.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wanted to know who is driving this trend. The data clearly shows that STEM and Business majors are adopting AI at a vastly higher rate than Humanities students.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 would assume AI saves time and reduces burnout. The data shows the exact opposite. Students claiming the highest levels of Burnout are actually the ones spending the most weekly hours using Generative AI.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scatter plot maps out our majors. Notice how STEM is pushed to the top right? They spend the most hours on AI, but they also report the absolute highest levels of Anxiety during closed-book exams.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the ultimate proof. When we compare where students started versus where they ended, we can see that moderate AI users see a healthy bump in their GPA, while heavy AI users plateau.</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Even if GPAs go up slightly, we have a looming crisis. Our Gauge chart shows that heavy AI users are suffering from poor skill retention. They are passing the class, but they are forgetting the material immediately after.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5A5A6-8C90-6DA4-FEA8-61B2BBE5FE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55A80-3641-835A-F7B9-AA39951E8EE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CD4FDD2-B24A-0F22-937A-B523FA2968EA}"/>
              </a:ext>
            </a:extLst>
          </p:cNvPr>
          <p:cNvSpPr>
            <a:spLocks noGrp="1"/>
          </p:cNvSpPr>
          <p:nvPr>
            <p:ph type="body" sz="quarter" idx="3"/>
          </p:nvPr>
        </p:nvSpPr>
        <p:spPr/>
        <p:txBody>
          <a:bodyPr/>
          <a:lstStyle/>
          <a:p>
            <a:r>
              <a:rPr dirty="0"/>
              <a:t>Even if GPAs go up slightly, we have a looming crisis. Our Gauge chart shows that heavy AI users are suffering from poor skill retention. They are passing the class, but they are forgetting the material immediately after.</a:t>
            </a:r>
          </a:p>
        </p:txBody>
      </p:sp>
      <p:sp>
        <p:nvSpPr>
          <p:cNvPr id="4" name="Slide Number Placeholder 3">
            <a:extLst>
              <a:ext uri="{FF2B5EF4-FFF2-40B4-BE49-F238E27FC236}">
                <a16:creationId xmlns:a16="http://schemas.microsoft.com/office/drawing/2014/main" id="{7B334697-0B19-7514-8382-119643B22B47}"/>
              </a:ext>
            </a:extLst>
          </p:cNvPr>
          <p:cNvSpPr>
            <a:spLocks noGrp="1"/>
          </p:cNvSpPr>
          <p:nvPr>
            <p:ph type="sldNum" sz="quarter" idx="5"/>
          </p:nvPr>
        </p:nvSpPr>
        <p:spPr/>
      </p:sp>
    </p:spTree>
    <p:extLst>
      <p:ext uri="{BB962C8B-B14F-4D97-AF65-F5344CB8AC3E}">
        <p14:creationId xmlns:p14="http://schemas.microsoft.com/office/powerpoint/2010/main" val="32169512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Based on the data, banning AI doesn't work. Universities must instead pivot to teaching students how to use it safely, prioritizing AI as a tutor rather than an answer key.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235DE-E961-7424-31B8-3AD7DFC9EA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60ACD-E79F-6D28-2EA8-D4B4F5EE6B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D9DC682-BA8D-8164-B53D-9149B9DBFA26}"/>
              </a:ext>
            </a:extLst>
          </p:cNvPr>
          <p:cNvSpPr>
            <a:spLocks noGrp="1"/>
          </p:cNvSpPr>
          <p:nvPr>
            <p:ph type="body" sz="quarter" idx="3"/>
          </p:nvPr>
        </p:nvSpPr>
        <p:spPr/>
        <p:txBody>
          <a:bodyPr/>
          <a:lstStyle/>
          <a:p>
            <a:r>
              <a:t>Thank you for your time. I would now like to open the floor to any questions, or I can run a live demonstration of the Power BI dashboard filtering features.</a:t>
            </a:r>
          </a:p>
        </p:txBody>
      </p:sp>
      <p:sp>
        <p:nvSpPr>
          <p:cNvPr id="4" name="Slide Number Placeholder 3">
            <a:extLst>
              <a:ext uri="{FF2B5EF4-FFF2-40B4-BE49-F238E27FC236}">
                <a16:creationId xmlns:a16="http://schemas.microsoft.com/office/drawing/2014/main" id="{CB06194E-CB0C-F61A-703A-A3FF2E519D7E}"/>
              </a:ext>
            </a:extLst>
          </p:cNvPr>
          <p:cNvSpPr>
            <a:spLocks noGrp="1"/>
          </p:cNvSpPr>
          <p:nvPr>
            <p:ph type="sldNum" sz="quarter" idx="5"/>
          </p:nvPr>
        </p:nvSpPr>
        <p:spPr/>
      </p:sp>
    </p:spTree>
    <p:extLst>
      <p:ext uri="{BB962C8B-B14F-4D97-AF65-F5344CB8AC3E}">
        <p14:creationId xmlns:p14="http://schemas.microsoft.com/office/powerpoint/2010/main" val="1985996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7FB88-4652-BF74-F9DB-9ABE3A68E2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13DDA5-9C98-01E9-05EA-4C6F353D6E9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00B4796-5883-56F1-7890-F1A5291673C3}"/>
              </a:ext>
            </a:extLst>
          </p:cNvPr>
          <p:cNvSpPr>
            <a:spLocks noGrp="1"/>
          </p:cNvSpPr>
          <p:nvPr>
            <p:ph type="body" sz="quarter" idx="3"/>
          </p:nvPr>
        </p:nvSpPr>
        <p:spPr/>
        <p:txBody>
          <a:bodyPr/>
          <a:lstStyle/>
          <a:p>
            <a:r>
              <a:t>Thank you for your time. I would now like to open the floor to any questions, or I can run a live demonstration of the Power BI dashboard filtering features.</a:t>
            </a:r>
          </a:p>
        </p:txBody>
      </p:sp>
      <p:sp>
        <p:nvSpPr>
          <p:cNvPr id="4" name="Slide Number Placeholder 3">
            <a:extLst>
              <a:ext uri="{FF2B5EF4-FFF2-40B4-BE49-F238E27FC236}">
                <a16:creationId xmlns:a16="http://schemas.microsoft.com/office/drawing/2014/main" id="{4C5673C6-01C6-9CD0-6064-656C20E54A8A}"/>
              </a:ext>
            </a:extLst>
          </p:cNvPr>
          <p:cNvSpPr>
            <a:spLocks noGrp="1"/>
          </p:cNvSpPr>
          <p:nvPr>
            <p:ph type="sldNum" sz="quarter" idx="5"/>
          </p:nvPr>
        </p:nvSpPr>
        <p:spPr/>
      </p:sp>
    </p:spTree>
    <p:extLst>
      <p:ext uri="{BB962C8B-B14F-4D97-AF65-F5344CB8AC3E}">
        <p14:creationId xmlns:p14="http://schemas.microsoft.com/office/powerpoint/2010/main" val="361325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8091" y="3085765"/>
            <a:ext cx="8240108"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2" y="990600"/>
            <a:ext cx="7989752" cy="1504844"/>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2" y="2495444"/>
            <a:ext cx="7989752"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922395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581192" y="2228003"/>
            <a:ext cx="7989752" cy="363079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74824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52646" y="5141973"/>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36573"/>
            <a:ext cx="7989751" cy="1504844"/>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3" y="4541417"/>
            <a:ext cx="7989751"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89666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581192" y="2228002"/>
            <a:ext cx="3899527"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63282" y="2228003"/>
            <a:ext cx="390766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81045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887219" y="2228003"/>
            <a:ext cx="3593500"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2" y="2926051"/>
            <a:ext cx="3899527"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969308" y="2228003"/>
            <a:ext cx="3601635" cy="576262"/>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63282" y="2926051"/>
            <a:ext cx="3907662"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16381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979958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27326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52646" y="5141973"/>
            <a:ext cx="8238707"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352" y="5262296"/>
            <a:ext cx="353662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6399" y="601200"/>
            <a:ext cx="82404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305617" y="5262295"/>
            <a:ext cx="426532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9/16/2026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5946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2" y="4693389"/>
            <a:ext cx="7989752"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8093" y="599725"/>
            <a:ext cx="8238706"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6"/>
            <a:ext cx="7989752"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40014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a:spLocks noChangeAspect="1"/>
          </p:cNvSpPr>
          <p:nvPr/>
        </p:nvSpPr>
        <p:spPr>
          <a:xfrm>
            <a:off x="448092" y="599725"/>
            <a:ext cx="8238707"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47086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629400" y="599725"/>
            <a:ext cx="2057399"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629400" y="675725"/>
            <a:ext cx="1503123"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581192" y="675725"/>
            <a:ext cx="592220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745255" y="5956136"/>
            <a:ext cx="947672" cy="365125"/>
          </a:xfrm>
        </p:spPr>
        <p:txBody>
          <a:bodyPr/>
          <a:lstStyle>
            <a:lvl1pPr>
              <a:defRPr>
                <a:solidFill>
                  <a:schemeClr val="accent1">
                    <a:lumMod val="75000"/>
                    <a:lumOff val="25000"/>
                  </a:schemeClr>
                </a:solidFill>
              </a:defRPr>
            </a:lvl1pPr>
          </a:lstStyle>
          <a:p>
            <a:fld id="{B61BEF0D-F0BB-DE4B-95CE-6DB70DBA9567}" type="datetimeFigureOut">
              <a:rPr lang="en-US" dirty="0"/>
              <a:pPr/>
              <a:t>9/16/2026</a:t>
            </a:fld>
            <a:endParaRPr lang="en-US" dirty="0"/>
          </a:p>
        </p:txBody>
      </p:sp>
      <p:sp>
        <p:nvSpPr>
          <p:cNvPr id="5" name="Footer Placeholder 4"/>
          <p:cNvSpPr>
            <a:spLocks noGrp="1"/>
          </p:cNvSpPr>
          <p:nvPr>
            <p:ph type="ftr" sz="quarter" idx="11"/>
          </p:nvPr>
        </p:nvSpPr>
        <p:spPr>
          <a:xfrm>
            <a:off x="581192" y="5951810"/>
            <a:ext cx="5922209" cy="365125"/>
          </a:xfrm>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429518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687474"/>
            <a:ext cx="7989752" cy="108332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228003"/>
            <a:ext cx="7989752" cy="3630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a:t>
            </a:r>
          </a:p>
        </p:txBody>
      </p:sp>
      <p:sp>
        <p:nvSpPr>
          <p:cNvPr id="4" name="Date Placeholder 3"/>
          <p:cNvSpPr>
            <a:spLocks noGrp="1"/>
          </p:cNvSpPr>
          <p:nvPr>
            <p:ph type="dt" sz="half" idx="2"/>
          </p:nvPr>
        </p:nvSpPr>
        <p:spPr>
          <a:xfrm>
            <a:off x="5559327" y="5956136"/>
            <a:ext cx="2133600"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9/16/2026</a:t>
            </a:fld>
            <a:endParaRPr lang="en-US" dirty="0"/>
          </a:p>
        </p:txBody>
      </p:sp>
      <p:sp>
        <p:nvSpPr>
          <p:cNvPr id="5" name="Footer Placeholder 4"/>
          <p:cNvSpPr>
            <a:spLocks noGrp="1"/>
          </p:cNvSpPr>
          <p:nvPr>
            <p:ph type="ftr" sz="quarter" idx="3"/>
          </p:nvPr>
        </p:nvSpPr>
        <p:spPr>
          <a:xfrm>
            <a:off x="581192" y="5951810"/>
            <a:ext cx="4870585"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7800476" y="5956136"/>
            <a:ext cx="770468"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8091" y="441325"/>
            <a:ext cx="2719909" cy="10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976001" y="441325"/>
            <a:ext cx="2710800" cy="10800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3216601" y="441325"/>
            <a:ext cx="2710800" cy="10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30148729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The Impact of Generative AI on Academic Performance and Student Well-being</a:t>
            </a:r>
          </a:p>
        </p:txBody>
      </p:sp>
      <p:sp>
        <p:nvSpPr>
          <p:cNvPr id="3" name="Subtitle 2"/>
          <p:cNvSpPr>
            <a:spLocks noGrp="1"/>
          </p:cNvSpPr>
          <p:nvPr>
            <p:ph type="subTitle" idx="1"/>
          </p:nvPr>
        </p:nvSpPr>
        <p:spPr/>
        <p:txBody>
          <a:bodyPr/>
          <a:lstStyle/>
          <a:p>
            <a:r>
              <a:t>A Data-Driven Analysis of 50,000 Students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Core Question</a:t>
            </a:r>
          </a:p>
        </p:txBody>
      </p:sp>
      <p:sp>
        <p:nvSpPr>
          <p:cNvPr id="3" name="Content Placeholder 2"/>
          <p:cNvSpPr>
            <a:spLocks noGrp="1"/>
          </p:cNvSpPr>
          <p:nvPr>
            <p:ph idx="1"/>
          </p:nvPr>
        </p:nvSpPr>
        <p:spPr/>
        <p:txBody>
          <a:bodyPr/>
          <a:lstStyle/>
          <a:p>
            <a:pPr marL="305435" indent="-305435"/>
            <a:r>
              <a:rPr dirty="0"/>
              <a:t>Does AI actually improve student grades?</a:t>
            </a:r>
            <a:endParaRPr lang="en-US" dirty="0"/>
          </a:p>
          <a:p>
            <a:pPr marL="305435" indent="-305435"/>
            <a:r>
              <a:rPr dirty="0"/>
              <a:t>What is the hidden cost of AI reliance on mental health?</a:t>
            </a:r>
          </a:p>
          <a:p>
            <a:pPr marL="305435" indent="-305435"/>
            <a:r>
              <a:rPr dirty="0"/>
              <a:t>Which students are most at risk of skill loss?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Engineering &amp; Architecture</a:t>
            </a:r>
          </a:p>
        </p:txBody>
      </p:sp>
      <p:sp>
        <p:nvSpPr>
          <p:cNvPr id="3" name="Content Placeholder 2"/>
          <p:cNvSpPr>
            <a:spLocks noGrp="1"/>
          </p:cNvSpPr>
          <p:nvPr>
            <p:ph idx="1"/>
          </p:nvPr>
        </p:nvSpPr>
        <p:spPr/>
        <p:txBody>
          <a:bodyPr/>
          <a:lstStyle/>
          <a:p>
            <a:pPr marL="305435" indent="-305435"/>
            <a:r>
              <a:rPr dirty="0"/>
              <a:t>Data Source: 50,000 student records (Kaggle).</a:t>
            </a:r>
            <a:endParaRPr lang="en-US" dirty="0"/>
          </a:p>
          <a:p>
            <a:pPr marL="305435" indent="-305435"/>
            <a:r>
              <a:rPr dirty="0"/>
              <a:t>Python (Pandas): Handled nulls, standardization, and feature engineering.</a:t>
            </a:r>
          </a:p>
          <a:p>
            <a:pPr marL="305435" indent="-305435"/>
            <a:r>
              <a:rPr dirty="0"/>
              <a:t>SQL (SQLite): Database creation and querying demographic trends.</a:t>
            </a:r>
          </a:p>
          <a:p>
            <a:pPr marL="305435" indent="-305435"/>
            <a:r>
              <a:rPr dirty="0"/>
              <a:t>Power BI: Interactive dashboarding and visual storytelling.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Findings at a Glance</a:t>
            </a:r>
          </a:p>
        </p:txBody>
      </p:sp>
      <p:pic>
        <p:nvPicPr>
          <p:cNvPr id="4" name="Content Placeholder 3">
            <a:extLst>
              <a:ext uri="{FF2B5EF4-FFF2-40B4-BE49-F238E27FC236}">
                <a16:creationId xmlns:a16="http://schemas.microsoft.com/office/drawing/2014/main" id="{76EAEAA6-9A12-BC12-30A8-BD35D030B949}"/>
              </a:ext>
            </a:extLst>
          </p:cNvPr>
          <p:cNvPicPr>
            <a:picLocks noGrp="1" noChangeAspect="1"/>
          </p:cNvPicPr>
          <p:nvPr>
            <p:ph idx="1"/>
          </p:nvPr>
        </p:nvPicPr>
        <p:blipFill>
          <a:blip r:embed="rId3"/>
          <a:stretch>
            <a:fillRect/>
          </a:stretch>
        </p:blipFill>
        <p:spPr>
          <a:xfrm>
            <a:off x="932755" y="2186866"/>
            <a:ext cx="2333625" cy="1628775"/>
          </a:xfrm>
          <a:prstGeom prst="rect">
            <a:avLst/>
          </a:prstGeom>
        </p:spPr>
      </p:pic>
      <p:pic>
        <p:nvPicPr>
          <p:cNvPr id="5" name="Picture 4">
            <a:extLst>
              <a:ext uri="{FF2B5EF4-FFF2-40B4-BE49-F238E27FC236}">
                <a16:creationId xmlns:a16="http://schemas.microsoft.com/office/drawing/2014/main" id="{567CD4FF-58E2-92E1-80CD-B2B371267A6F}"/>
              </a:ext>
            </a:extLst>
          </p:cNvPr>
          <p:cNvPicPr>
            <a:picLocks noChangeAspect="1"/>
          </p:cNvPicPr>
          <p:nvPr/>
        </p:nvPicPr>
        <p:blipFill>
          <a:blip r:embed="rId4"/>
          <a:stretch>
            <a:fillRect/>
          </a:stretch>
        </p:blipFill>
        <p:spPr>
          <a:xfrm>
            <a:off x="4575082" y="2185428"/>
            <a:ext cx="3019425" cy="1590675"/>
          </a:xfrm>
          <a:prstGeom prst="rect">
            <a:avLst/>
          </a:prstGeom>
        </p:spPr>
      </p:pic>
      <p:pic>
        <p:nvPicPr>
          <p:cNvPr id="6" name="Picture 5">
            <a:extLst>
              <a:ext uri="{FF2B5EF4-FFF2-40B4-BE49-F238E27FC236}">
                <a16:creationId xmlns:a16="http://schemas.microsoft.com/office/drawing/2014/main" id="{498A0B73-986D-8AF2-55E5-F5373C80CBC7}"/>
              </a:ext>
            </a:extLst>
          </p:cNvPr>
          <p:cNvPicPr>
            <a:picLocks noChangeAspect="1"/>
          </p:cNvPicPr>
          <p:nvPr/>
        </p:nvPicPr>
        <p:blipFill>
          <a:blip r:embed="rId5"/>
          <a:stretch>
            <a:fillRect/>
          </a:stretch>
        </p:blipFill>
        <p:spPr>
          <a:xfrm>
            <a:off x="3025588" y="4196884"/>
            <a:ext cx="1905000" cy="10191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 as a Tutor vs. An Answer Key</a:t>
            </a:r>
          </a:p>
        </p:txBody>
      </p:sp>
      <p:pic>
        <p:nvPicPr>
          <p:cNvPr id="4" name="Content Placeholder 3">
            <a:extLst>
              <a:ext uri="{FF2B5EF4-FFF2-40B4-BE49-F238E27FC236}">
                <a16:creationId xmlns:a16="http://schemas.microsoft.com/office/drawing/2014/main" id="{00915F8E-A2CB-BBFC-919E-82748409C275}"/>
              </a:ext>
            </a:extLst>
          </p:cNvPr>
          <p:cNvPicPr>
            <a:picLocks noGrp="1" noChangeAspect="1"/>
          </p:cNvPicPr>
          <p:nvPr>
            <p:ph idx="1"/>
          </p:nvPr>
        </p:nvPicPr>
        <p:blipFill>
          <a:blip r:embed="rId3"/>
          <a:stretch>
            <a:fillRect/>
          </a:stretch>
        </p:blipFill>
        <p:spPr>
          <a:xfrm>
            <a:off x="716752" y="2052157"/>
            <a:ext cx="7707641" cy="44001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Which Majors Rely on AI the Most?</a:t>
            </a:r>
          </a:p>
        </p:txBody>
      </p:sp>
      <p:pic>
        <p:nvPicPr>
          <p:cNvPr id="4" name="Content Placeholder 3">
            <a:extLst>
              <a:ext uri="{FF2B5EF4-FFF2-40B4-BE49-F238E27FC236}">
                <a16:creationId xmlns:a16="http://schemas.microsoft.com/office/drawing/2014/main" id="{EFB3B0EF-6E7C-9355-462B-8D0D3995B1D1}"/>
              </a:ext>
            </a:extLst>
          </p:cNvPr>
          <p:cNvPicPr>
            <a:picLocks noGrp="1" noChangeAspect="1"/>
          </p:cNvPicPr>
          <p:nvPr>
            <p:ph idx="1"/>
          </p:nvPr>
        </p:nvPicPr>
        <p:blipFill>
          <a:blip r:embed="rId3"/>
          <a:stretch>
            <a:fillRect/>
          </a:stretch>
        </p:blipFill>
        <p:spPr>
          <a:xfrm>
            <a:off x="730225" y="2085128"/>
            <a:ext cx="7834561" cy="44001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Does AI Save Time or Increase Burnout?</a:t>
            </a:r>
          </a:p>
        </p:txBody>
      </p:sp>
      <p:pic>
        <p:nvPicPr>
          <p:cNvPr id="4" name="Content Placeholder 3">
            <a:extLst>
              <a:ext uri="{FF2B5EF4-FFF2-40B4-BE49-F238E27FC236}">
                <a16:creationId xmlns:a16="http://schemas.microsoft.com/office/drawing/2014/main" id="{54ECE1E3-F92F-683B-35B7-1F78FBB2C6F7}"/>
              </a:ext>
            </a:extLst>
          </p:cNvPr>
          <p:cNvPicPr>
            <a:picLocks noGrp="1" noChangeAspect="1"/>
          </p:cNvPicPr>
          <p:nvPr>
            <p:ph idx="1"/>
          </p:nvPr>
        </p:nvPicPr>
        <p:blipFill>
          <a:blip r:embed="rId3"/>
          <a:stretch>
            <a:fillRect/>
          </a:stretch>
        </p:blipFill>
        <p:spPr>
          <a:xfrm>
            <a:off x="584218" y="1975224"/>
            <a:ext cx="7961719" cy="444408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Cost of Over-Reliance</a:t>
            </a:r>
          </a:p>
        </p:txBody>
      </p:sp>
      <p:pic>
        <p:nvPicPr>
          <p:cNvPr id="4" name="Content Placeholder 3">
            <a:extLst>
              <a:ext uri="{FF2B5EF4-FFF2-40B4-BE49-F238E27FC236}">
                <a16:creationId xmlns:a16="http://schemas.microsoft.com/office/drawing/2014/main" id="{469513F9-A417-F18A-A9A3-C7AE29CA568F}"/>
              </a:ext>
            </a:extLst>
          </p:cNvPr>
          <p:cNvPicPr>
            <a:picLocks noGrp="1" noChangeAspect="1"/>
          </p:cNvPicPr>
          <p:nvPr>
            <p:ph idx="1"/>
          </p:nvPr>
        </p:nvPicPr>
        <p:blipFill>
          <a:blip r:embed="rId3"/>
          <a:stretch>
            <a:fillRect/>
          </a:stretch>
        </p:blipFill>
        <p:spPr>
          <a:xfrm>
            <a:off x="578925" y="2030177"/>
            <a:ext cx="7994284" cy="442210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Pre-Semester vs. Post-Semester GPA</a:t>
            </a:r>
          </a:p>
        </p:txBody>
      </p:sp>
      <p:pic>
        <p:nvPicPr>
          <p:cNvPr id="4" name="Content Placeholder 3">
            <a:extLst>
              <a:ext uri="{FF2B5EF4-FFF2-40B4-BE49-F238E27FC236}">
                <a16:creationId xmlns:a16="http://schemas.microsoft.com/office/drawing/2014/main" id="{4F4F47A4-81ED-BB2B-1380-E779CF581F2D}"/>
              </a:ext>
            </a:extLst>
          </p:cNvPr>
          <p:cNvPicPr>
            <a:picLocks noGrp="1" noChangeAspect="1"/>
          </p:cNvPicPr>
          <p:nvPr>
            <p:ph idx="1"/>
          </p:nvPr>
        </p:nvPicPr>
        <p:blipFill>
          <a:blip r:embed="rId3"/>
          <a:stretch>
            <a:fillRect/>
          </a:stretch>
        </p:blipFill>
        <p:spPr>
          <a:xfrm>
            <a:off x="581001" y="2008195"/>
            <a:ext cx="7858248" cy="434516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Skill Retention Crisis</a:t>
            </a:r>
          </a:p>
        </p:txBody>
      </p:sp>
      <p:pic>
        <p:nvPicPr>
          <p:cNvPr id="10" name="Content Placeholder 9">
            <a:extLst>
              <a:ext uri="{FF2B5EF4-FFF2-40B4-BE49-F238E27FC236}">
                <a16:creationId xmlns:a16="http://schemas.microsoft.com/office/drawing/2014/main" id="{3F7152E8-2718-1558-5F55-917B2471560C}"/>
              </a:ext>
            </a:extLst>
          </p:cNvPr>
          <p:cNvPicPr>
            <a:picLocks noGrp="1" noChangeAspect="1"/>
          </p:cNvPicPr>
          <p:nvPr>
            <p:ph idx="1"/>
          </p:nvPr>
        </p:nvPicPr>
        <p:blipFill>
          <a:blip r:embed="rId3"/>
          <a:stretch>
            <a:fillRect/>
          </a:stretch>
        </p:blipFill>
        <p:spPr>
          <a:xfrm>
            <a:off x="1571491" y="2325539"/>
            <a:ext cx="6020359" cy="343572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D5D00-BDE4-5846-BC6B-D61927D12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69BAB-35B1-2364-B122-23F6380C6FB6}"/>
              </a:ext>
            </a:extLst>
          </p:cNvPr>
          <p:cNvSpPr>
            <a:spLocks noGrp="1"/>
          </p:cNvSpPr>
          <p:nvPr>
            <p:ph type="title"/>
          </p:nvPr>
        </p:nvSpPr>
        <p:spPr/>
        <p:txBody>
          <a:bodyPr/>
          <a:lstStyle/>
          <a:p>
            <a:r>
              <a:rPr lang="en-US" dirty="0"/>
              <a:t>DASHBOARD DEMO </a:t>
            </a:r>
          </a:p>
        </p:txBody>
      </p:sp>
    </p:spTree>
    <p:extLst>
      <p:ext uri="{BB962C8B-B14F-4D97-AF65-F5344CB8AC3E}">
        <p14:creationId xmlns:p14="http://schemas.microsoft.com/office/powerpoint/2010/main" val="427454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Do Universities Go From Here?</a:t>
            </a:r>
          </a:p>
        </p:txBody>
      </p:sp>
      <p:sp>
        <p:nvSpPr>
          <p:cNvPr id="3" name="Content Placeholder 2"/>
          <p:cNvSpPr>
            <a:spLocks noGrp="1"/>
          </p:cNvSpPr>
          <p:nvPr>
            <p:ph idx="1"/>
          </p:nvPr>
        </p:nvSpPr>
        <p:spPr/>
        <p:txBody>
          <a:bodyPr/>
          <a:lstStyle/>
          <a:p>
            <a:pPr marL="305435" indent="-305435">
              <a:buFont typeface="Wingdings 2"/>
            </a:pPr>
            <a:r>
              <a:rPr dirty="0"/>
              <a:t> Don't Ban It, Teach It: Universities must mandate 'Prompt Engineering' classes to teach students how to use AI for ideation, not direct answers.</a:t>
            </a:r>
            <a:endParaRPr lang="en-US" dirty="0"/>
          </a:p>
          <a:p>
            <a:pPr marL="305435" indent="-305435"/>
            <a:r>
              <a:rPr dirty="0"/>
              <a:t>Rethink Exams: High exam anxiety proves students feel unprepared without their AI tools. Assessments must adapt to test critical thinking.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8C39A-1D80-98D6-076A-5D2A5440C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3E0C7A-D20A-435B-4B45-6B6B57A71166}"/>
              </a:ext>
            </a:extLst>
          </p:cNvPr>
          <p:cNvSpPr>
            <a:spLocks noGrp="1"/>
          </p:cNvSpPr>
          <p:nvPr>
            <p:ph type="title"/>
          </p:nvPr>
        </p:nvSpPr>
        <p:spPr/>
        <p:txBody>
          <a:bodyPr/>
          <a:lstStyle/>
          <a:p>
            <a:r>
              <a:rPr lang="en-US" dirty="0"/>
              <a:t>Bringing it all together</a:t>
            </a:r>
          </a:p>
        </p:txBody>
      </p:sp>
      <p:sp>
        <p:nvSpPr>
          <p:cNvPr id="3" name="Content Placeholder 2">
            <a:extLst>
              <a:ext uri="{FF2B5EF4-FFF2-40B4-BE49-F238E27FC236}">
                <a16:creationId xmlns:a16="http://schemas.microsoft.com/office/drawing/2014/main" id="{ADFB2A26-14D9-9431-601A-12F239F0F25F}"/>
              </a:ext>
            </a:extLst>
          </p:cNvPr>
          <p:cNvSpPr>
            <a:spLocks noGrp="1"/>
          </p:cNvSpPr>
          <p:nvPr>
            <p:ph idx="1"/>
          </p:nvPr>
        </p:nvSpPr>
        <p:spPr/>
        <p:txBody>
          <a:bodyPr/>
          <a:lstStyle/>
          <a:p>
            <a:pPr marL="305435" indent="-305435"/>
            <a:r>
              <a:rPr lang="en-US" b="1" dirty="0">
                <a:ea typeface="+mn-lt"/>
                <a:cs typeface="+mn-lt"/>
              </a:rPr>
              <a:t>The GPA Illusion:</a:t>
            </a:r>
            <a:r>
              <a:rPr lang="en-US" dirty="0">
                <a:ea typeface="+mn-lt"/>
                <a:cs typeface="+mn-lt"/>
              </a:rPr>
              <a:t> AI boosts grades, but at the cost of skill retention.</a:t>
            </a:r>
            <a:endParaRPr lang="en-US"/>
          </a:p>
          <a:p>
            <a:pPr marL="305435" indent="-305435"/>
            <a:r>
              <a:rPr lang="en-US" b="1" dirty="0">
                <a:ea typeface="+mn-lt"/>
                <a:cs typeface="+mn-lt"/>
              </a:rPr>
              <a:t>The Stress Factor:</a:t>
            </a:r>
            <a:r>
              <a:rPr lang="en-US" dirty="0">
                <a:ea typeface="+mn-lt"/>
                <a:cs typeface="+mn-lt"/>
              </a:rPr>
              <a:t> High usage hours directly correlate with high exam anxiety.</a:t>
            </a:r>
            <a:endParaRPr lang="en-US"/>
          </a:p>
          <a:p>
            <a:pPr marL="305435" indent="-305435"/>
            <a:r>
              <a:rPr lang="en-US" b="1" dirty="0">
                <a:ea typeface="+mn-lt"/>
                <a:cs typeface="+mn-lt"/>
              </a:rPr>
              <a:t>The Usage Divide:</a:t>
            </a:r>
            <a:r>
              <a:rPr lang="en-US" dirty="0">
                <a:ea typeface="+mn-lt"/>
                <a:cs typeface="+mn-lt"/>
              </a:rPr>
              <a:t> AI policies must adapt differently for STEM vs. Humanitie</a:t>
            </a:r>
            <a:r>
              <a:rPr lang="en-US" dirty="0">
                <a:solidFill>
                  <a:srgbClr val="3D3D3D"/>
                </a:solidFill>
                <a:ea typeface="+mn-lt"/>
                <a:cs typeface="+mn-lt"/>
              </a:rPr>
              <a:t>s.</a:t>
            </a:r>
            <a:endParaRPr lang="en-US" dirty="0">
              <a:solidFill>
                <a:srgbClr val="3D3D3D"/>
              </a:solidFill>
            </a:endParaRPr>
          </a:p>
        </p:txBody>
      </p:sp>
    </p:spTree>
    <p:extLst>
      <p:ext uri="{BB962C8B-B14F-4D97-AF65-F5344CB8AC3E}">
        <p14:creationId xmlns:p14="http://schemas.microsoft.com/office/powerpoint/2010/main" val="1194052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552A5-119B-FEDE-9BAF-2AC635264F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B9829-E183-A432-899C-7B49715B9275}"/>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7A761EA8-D453-EB0E-237B-B0C8F9B94DF7}"/>
              </a:ext>
            </a:extLst>
          </p:cNvPr>
          <p:cNvSpPr>
            <a:spLocks noGrp="1"/>
          </p:cNvSpPr>
          <p:nvPr>
            <p:ph idx="1"/>
          </p:nvPr>
        </p:nvSpPr>
        <p:spPr/>
        <p:txBody>
          <a:bodyPr>
            <a:normAutofit lnSpcReduction="10000"/>
          </a:bodyPr>
          <a:lstStyle/>
          <a:p>
            <a:pPr marL="0" indent="0">
              <a:buNone/>
            </a:pPr>
            <a:r>
              <a:rPr lang="en-US" b="1" dirty="0">
                <a:solidFill>
                  <a:srgbClr val="3D3D3D"/>
                </a:solidFill>
              </a:rPr>
              <a:t>SCRUM GROUP 6 </a:t>
            </a:r>
          </a:p>
          <a:p>
            <a:pPr marL="305435" indent="-305435">
              <a:buFont typeface="Arial" panose="05020102010507070707" pitchFamily="18" charset="2"/>
              <a:buChar char="•"/>
            </a:pPr>
            <a:r>
              <a:rPr lang="en-US" b="1" dirty="0">
                <a:solidFill>
                  <a:srgbClr val="3D3D3D"/>
                </a:solidFill>
              </a:rPr>
              <a:t>Allen Lazarus</a:t>
            </a:r>
          </a:p>
          <a:p>
            <a:pPr marL="305435" indent="-305435">
              <a:buFont typeface="Arial" panose="05020102010507070707" pitchFamily="18" charset="2"/>
              <a:buChar char="•"/>
            </a:pPr>
            <a:r>
              <a:rPr lang="en-US" b="1" dirty="0">
                <a:solidFill>
                  <a:srgbClr val="3D3D3D"/>
                </a:solidFill>
              </a:rPr>
              <a:t>Brandon Moorcroft</a:t>
            </a:r>
          </a:p>
          <a:p>
            <a:pPr marL="305435" indent="-305435">
              <a:buFont typeface="Arial" panose="05020102010507070707" pitchFamily="18" charset="2"/>
              <a:buChar char="•"/>
            </a:pPr>
            <a:r>
              <a:rPr lang="en-US" b="1" dirty="0">
                <a:solidFill>
                  <a:srgbClr val="3D3D3D"/>
                </a:solidFill>
              </a:rPr>
              <a:t>Daniel Dehinbo</a:t>
            </a:r>
          </a:p>
          <a:p>
            <a:pPr marL="305435" indent="-305435">
              <a:buFont typeface="Arial" panose="05020102010507070707" pitchFamily="18" charset="2"/>
              <a:buChar char="•"/>
            </a:pPr>
            <a:r>
              <a:rPr lang="en-US" b="1" dirty="0">
                <a:solidFill>
                  <a:srgbClr val="3D3D3D"/>
                </a:solidFill>
              </a:rPr>
              <a:t>Guruvendra Singh</a:t>
            </a:r>
          </a:p>
          <a:p>
            <a:pPr marL="305435" indent="-305435">
              <a:buFont typeface="Arial" panose="05020102010507070707" pitchFamily="18" charset="2"/>
              <a:buChar char="•"/>
            </a:pPr>
            <a:r>
              <a:rPr lang="en-US" b="1" dirty="0">
                <a:solidFill>
                  <a:srgbClr val="3D3D3D"/>
                </a:solidFill>
              </a:rPr>
              <a:t>Jie Zhao Yang</a:t>
            </a:r>
          </a:p>
          <a:p>
            <a:pPr marL="305435" indent="-305435">
              <a:buFont typeface="Arial" panose="05020102010507070707" pitchFamily="18" charset="2"/>
              <a:buChar char="•"/>
            </a:pPr>
            <a:r>
              <a:rPr lang="en-US" b="1" dirty="0">
                <a:solidFill>
                  <a:srgbClr val="3D3D3D"/>
                </a:solidFill>
              </a:rPr>
              <a:t>Philbert Fontenelle</a:t>
            </a:r>
          </a:p>
          <a:p>
            <a:pPr marL="305435" indent="-305435">
              <a:buFont typeface="Arial" panose="05020102010507070707" pitchFamily="18" charset="2"/>
              <a:buChar char="•"/>
            </a:pPr>
            <a:r>
              <a:rPr lang="en-US" b="1" dirty="0">
                <a:solidFill>
                  <a:srgbClr val="3D3D3D"/>
                </a:solidFill>
              </a:rPr>
              <a:t>Priya Raja</a:t>
            </a:r>
          </a:p>
          <a:p>
            <a:pPr marL="305435" indent="-305435">
              <a:buFont typeface="Arial" panose="05020102010507070707" pitchFamily="18" charset="2"/>
              <a:buChar char="•"/>
            </a:pPr>
            <a:r>
              <a:rPr lang="en-US" b="1" dirty="0">
                <a:solidFill>
                  <a:srgbClr val="3D3D3D"/>
                </a:solidFill>
              </a:rPr>
              <a:t>Shruthi Ramesh </a:t>
            </a:r>
          </a:p>
          <a:p>
            <a:pPr marL="305435" indent="-305435">
              <a:buFont typeface="Arial" panose="05020102010507070707" pitchFamily="18" charset="2"/>
              <a:buChar char="•"/>
            </a:pPr>
            <a:endParaRPr lang="en-US" b="1" dirty="0">
              <a:solidFill>
                <a:srgbClr val="3D3D3D"/>
              </a:solidFill>
            </a:endParaRPr>
          </a:p>
        </p:txBody>
      </p:sp>
    </p:spTree>
    <p:extLst>
      <p:ext uri="{BB962C8B-B14F-4D97-AF65-F5344CB8AC3E}">
        <p14:creationId xmlns:p14="http://schemas.microsoft.com/office/powerpoint/2010/main" val="2932648957"/>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Dividend</vt:lpstr>
      <vt:lpstr>The Impact of Generative AI on Academic Performance and Student Well-being</vt:lpstr>
      <vt:lpstr>The Core Question</vt:lpstr>
      <vt:lpstr>Data Engineering &amp; Architecture</vt:lpstr>
      <vt:lpstr>Key Findings at a Glance</vt:lpstr>
      <vt:lpstr>AI as a Tutor vs. An Answer Key</vt:lpstr>
      <vt:lpstr>Which Majors Rely on AI the Most?</vt:lpstr>
      <vt:lpstr>Does AI Save Time or Increase Burnout?</vt:lpstr>
      <vt:lpstr>The Cost of Over-Reliance</vt:lpstr>
      <vt:lpstr>Pre-Semester vs. Post-Semester GPA</vt:lpstr>
      <vt:lpstr>The Skill Retention Crisis</vt:lpstr>
      <vt:lpstr>DASHBOARD DEMO </vt:lpstr>
      <vt:lpstr>Where Do Universities Go From Here?</vt:lpstr>
      <vt:lpstr>Bringing it all together</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90</cp:revision>
  <dcterms:created xsi:type="dcterms:W3CDTF">2013-01-27T09:14:16Z</dcterms:created>
  <dcterms:modified xsi:type="dcterms:W3CDTF">2026-09-16T19:56:14Z</dcterms:modified>
  <cp:category/>
</cp:coreProperties>
</file>